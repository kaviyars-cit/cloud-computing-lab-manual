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45E-0C98-4608-9897-B8CCB16FA10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D3E-174C-45A5-963C-6A840E4BE4C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6EAE-9709-49E3-9D09-DF49288CBEB5}" type="datetime1">
              <a:rPr lang="en-IN" smtClean="0"/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7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7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4B4BD06-C707-4ECB-B568-73D1461E3867}" type="datetime1">
              <a:rPr lang="en-IN" smtClean="0"/>
            </a:fld>
            <a:endParaRPr lang="en-IN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75FB8137-F6AA-4E86-959E-1B3561B3F039}" type="slidenum">
              <a:rPr lang="en-IN" smtClean="0"/>
            </a:fld>
            <a:endParaRPr lang="en-IN" b="1"/>
          </a:p>
        </p:txBody>
      </p:sp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/>
          <p:cNvSpPr txBox="1"/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27FF-BB99-4261-B1FD-3F822A477C71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9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1C89-564E-4D4B-B799-5EE666708D20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11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F782-7CD5-4FC8-B84E-61B3C475D8E0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7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889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2139-4228-4E1E-AE34-D1AC707B480F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6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7A5C-3DAF-4449-AA2B-8CCFC542C1C4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9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7D4-720D-4278-A961-3910D5FF5A20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9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A1C-C95D-4B1D-9753-55BC791973F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21CF-FD19-4CFD-9A6E-81D4C4756A2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2292-8BE8-41D2-A32D-BB37E572F7D6}" type="datetime1">
              <a:rPr lang="en-IN" smtClean="0"/>
            </a:fld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8137-F6AA-4E86-959E-1B3561B3F039}" type="slidenum">
              <a:rPr lang="en-IN" smtClean="0"/>
            </a:fld>
            <a:endParaRPr lang="en-IN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3.xml"/><Relationship Id="rId1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4.xml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5.xml"/><Relationship Id="rId3" Type="http://schemas.openxmlformats.org/officeDocument/2006/relationships/slide" Target="slide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6.xml"/><Relationship Id="rId3" Type="http://schemas.openxmlformats.org/officeDocument/2006/relationships/slide" Target="slide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7.xml"/><Relationship Id="rId3" Type="http://schemas.openxmlformats.org/officeDocument/2006/relationships/slide" Target="slide5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8.xml"/><Relationship Id="rId3" Type="http://schemas.openxmlformats.org/officeDocument/2006/relationships/slide" Target="slide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9.xml"/><Relationship Id="rId1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8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8720" y="105156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42B5C"/>
                </a:solidFill>
                <a:latin typeface="Aptos"/>
              </a:rPr>
              <a:t>Department of Computer Science and Engineering</a:t>
            </a:r>
            <a:endParaRPr sz="2200" b="1">
              <a:solidFill>
                <a:srgbClr val="242B5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1600200"/>
            <a:ext cx="8595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6446C8"/>
                </a:solidFill>
                <a:latin typeface="Aptos"/>
              </a:rPr>
              <a:t>CLOUD COMPUTING LAB</a:t>
            </a:r>
            <a:endParaRPr sz="30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83280" y="2331720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8C23"/>
                </a:solidFill>
                <a:latin typeface="Aptos"/>
              </a:rPr>
              <a:t>EXPERIMENT 05</a:t>
            </a:r>
            <a:endParaRPr sz="2200" b="1">
              <a:solidFill>
                <a:srgbClr val="F58C23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2880360"/>
            <a:ext cx="9966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382E6"/>
                </a:solidFill>
                <a:latin typeface="Aptos"/>
              </a:rPr>
              <a:t>Simulate a Cloud Scenario Using CloudSim</a:t>
            </a:r>
            <a:endParaRPr sz="2800" b="1">
              <a:solidFill>
                <a:srgbClr val="2382E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3822191"/>
            <a:ext cx="8595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6E7D"/>
                </a:solidFill>
                <a:latin typeface="Aptos"/>
              </a:rPr>
              <a:t>CloudSim setup • Eclipse • Project configuration • Execution</a:t>
            </a:r>
            <a:endParaRPr sz="1500" b="0">
              <a:solidFill>
                <a:srgbClr val="696E7D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2011680" y="4709160"/>
            <a:ext cx="438912" cy="438912"/>
          </a:xfrm>
          <a:prstGeom prst="ellipse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0" y="4709160"/>
            <a:ext cx="438912" cy="438912"/>
          </a:xfrm>
          <a:prstGeom prst="ellipse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4709160"/>
            <a:ext cx="438912" cy="438912"/>
          </a:xfrm>
          <a:prstGeom prst="ellipse">
            <a:avLst/>
          </a:prstGeom>
          <a:solidFill>
            <a:srgbClr val="1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0" y="4709160"/>
            <a:ext cx="438912" cy="438912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5212080"/>
            <a:ext cx="9326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3232D"/>
                </a:solidFill>
                <a:latin typeface="Aptos"/>
              </a:rPr>
              <a:t>Aim: Simulate a cloud scenario using CloudSim and run a scheduling algorithm that is not present in CloudSim.</a:t>
            </a:r>
            <a:endParaRPr sz="1300" b="1">
              <a:solidFill>
                <a:srgbClr val="23232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7783" y="0"/>
            <a:ext cx="10515600" cy="1009651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325EE-5BC8-4C2B-A4D7-1023B1CB6184}" type="datetime1">
              <a:rPr lang="en-IN" sz="1600" b="1" smtClean="0"/>
            </a:fld>
            <a:endParaRPr lang="en-IN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z="1800" b="1" smtClean="0"/>
            </a:fld>
            <a:endParaRPr lang="en-IN" sz="1800" b="1"/>
          </a:p>
        </p:txBody>
      </p:sp>
      <p:sp>
        <p:nvSpPr>
          <p:cNvPr id="6" name="TextBox 5"/>
          <p:cNvSpPr txBox="1"/>
          <p:nvPr/>
        </p:nvSpPr>
        <p:spPr>
          <a:xfrm>
            <a:off x="3657600" y="164592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6446C8"/>
                </a:solidFill>
                <a:latin typeface="Aptos"/>
              </a:rPr>
              <a:t>CONTENTS</a:t>
            </a:r>
            <a:endParaRPr sz="28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1143000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143000"/>
            <a:ext cx="4892040" cy="109728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307592"/>
            <a:ext cx="502920" cy="502920"/>
          </a:xfrm>
          <a:prstGeom prst="ellipse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34416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01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64207" y="1307592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46C8"/>
                </a:solidFill>
                <a:latin typeface="Aptos"/>
              </a:rPr>
              <a:t>Aim &amp; Tools</a:t>
            </a:r>
            <a:endParaRPr sz="16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5568" y="1810513"/>
            <a:ext cx="4489703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0" y="1143000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143000"/>
            <a:ext cx="4892040" cy="109728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1307592"/>
            <a:ext cx="502920" cy="502920"/>
          </a:xfrm>
          <a:prstGeom prst="ellipse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34416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02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50608" y="1307592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82E6"/>
                </a:solidFill>
                <a:latin typeface="Aptos"/>
              </a:rPr>
              <a:t>Download Eclipse &amp; CloudSim</a:t>
            </a:r>
            <a:endParaRPr sz="1600" b="1">
              <a:solidFill>
                <a:srgbClr val="2382E6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01968" y="1810513"/>
            <a:ext cx="4489703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4400" y="2221991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2221991"/>
            <a:ext cx="4892040" cy="109728"/>
          </a:xfrm>
          <a:prstGeom prst="roundRect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2386584"/>
            <a:ext cx="502920" cy="502920"/>
          </a:xfrm>
          <a:prstGeom prst="ellipse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24231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03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64207" y="2386584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8C23"/>
                </a:solidFill>
                <a:latin typeface="Aptos"/>
              </a:rPr>
              <a:t>Create the CloudSim Project</a:t>
            </a:r>
            <a:endParaRPr sz="1600" b="1">
              <a:solidFill>
                <a:srgbClr val="F58C2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15568" y="2889505"/>
            <a:ext cx="4489703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0" y="2221991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2221991"/>
            <a:ext cx="4892040" cy="109728"/>
          </a:xfrm>
          <a:prstGeom prst="round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65392" y="2386584"/>
            <a:ext cx="502920" cy="502920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24231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04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50608" y="2386584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6AA64"/>
                </a:solidFill>
                <a:latin typeface="Aptos"/>
              </a:rPr>
              <a:t>Add External JAR</a:t>
            </a:r>
            <a:endParaRPr sz="1600" b="1">
              <a:solidFill>
                <a:srgbClr val="36AA64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01968" y="2889505"/>
            <a:ext cx="4489703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14400" y="3300984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" y="3300984"/>
            <a:ext cx="4892040" cy="109728"/>
          </a:xfrm>
          <a:prstGeom prst="roundRect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8992" y="3465576"/>
            <a:ext cx="502920" cy="502920"/>
          </a:xfrm>
          <a:prstGeom prst="ellipse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35021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05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64207" y="3465576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4687"/>
                </a:solidFill>
                <a:latin typeface="Aptos"/>
              </a:rPr>
              <a:t>Configure &amp; Build</a:t>
            </a:r>
            <a:endParaRPr sz="1600" b="1">
              <a:solidFill>
                <a:srgbClr val="EB4687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15568" y="3968496"/>
            <a:ext cx="4489703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400800" y="3300984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0" y="3300984"/>
            <a:ext cx="4892040" cy="109728"/>
          </a:xfrm>
          <a:prstGeom prst="roundRect">
            <a:avLst/>
          </a:prstGeom>
          <a:solidFill>
            <a:srgbClr val="1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65392" y="3465576"/>
            <a:ext cx="502920" cy="502920"/>
          </a:xfrm>
          <a:prstGeom prst="ellipse">
            <a:avLst/>
          </a:prstGeom>
          <a:solidFill>
            <a:srgbClr val="1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35021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06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50608" y="3465576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B4BE"/>
                </a:solidFill>
                <a:latin typeface="Aptos"/>
              </a:rPr>
              <a:t>Run CloudSimExample1</a:t>
            </a:r>
            <a:endParaRPr sz="1600" b="1">
              <a:solidFill>
                <a:srgbClr val="1CB4BE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601968" y="3968496"/>
            <a:ext cx="4489703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14400" y="4379976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4400" y="4379976"/>
            <a:ext cx="4892040" cy="109728"/>
          </a:xfrm>
          <a:prstGeom prst="roundRect">
            <a:avLst/>
          </a:prstGeom>
          <a:solidFill>
            <a:srgbClr val="F5B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8992" y="4544568"/>
            <a:ext cx="502920" cy="502920"/>
          </a:xfrm>
          <a:prstGeom prst="ellipse">
            <a:avLst/>
          </a:prstGeom>
          <a:solidFill>
            <a:srgbClr val="F5B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992" y="458114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07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64207" y="4544568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BE2D"/>
                </a:solidFill>
                <a:latin typeface="Aptos"/>
              </a:rPr>
              <a:t>Output &amp; Result</a:t>
            </a:r>
            <a:endParaRPr sz="1600" b="1">
              <a:solidFill>
                <a:srgbClr val="F5BE2D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15568" y="5047489"/>
            <a:ext cx="4489703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400800" y="4379976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400800" y="4379976"/>
            <a:ext cx="4892040" cy="109728"/>
          </a:xfrm>
          <a:prstGeom prst="roundRect">
            <a:avLst/>
          </a:prstGeom>
          <a:solidFill>
            <a:srgbClr val="24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565392" y="4544568"/>
            <a:ext cx="502920" cy="502920"/>
          </a:xfrm>
          <a:prstGeom prst="ellipse">
            <a:avLst/>
          </a:prstGeom>
          <a:solidFill>
            <a:srgbClr val="24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458114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08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150608" y="4544568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42B5C"/>
                </a:solidFill>
                <a:latin typeface="Aptos"/>
              </a:rPr>
              <a:t>Interactive Workflow</a:t>
            </a:r>
            <a:endParaRPr sz="1600" b="1">
              <a:solidFill>
                <a:srgbClr val="242B5C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01968" y="5047489"/>
            <a:ext cx="4489703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194560" y="553212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96E7D"/>
                </a:solidFill>
                <a:latin typeface="Aptos"/>
              </a:rPr>
              <a:t>Source: Cloud Computing Lab Manual — Experiment No. 5</a:t>
            </a:r>
            <a:endParaRPr sz="1100" b="0">
              <a:solidFill>
                <a:srgbClr val="696E7D"/>
              </a:solidFill>
              <a:latin typeface="Aptos"/>
            </a:endParaRPr>
          </a:p>
        </p:txBody>
      </p:sp>
      <p:sp>
        <p:nvSpPr>
          <p:cNvPr id="56" name="Rounded Rectangle 55">
            <a:hlinkClick r:id="rId1" action="ppaction://hlinksldjump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8" name="Rounded Rectangle 57">
            <a:hlinkClick r:id="rId2" action="ppaction://hlinksldjump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46C8"/>
                </a:solidFill>
                <a:latin typeface="Aptos"/>
              </a:rPr>
              <a:t>AIM &amp; EXPERIMENT OVERVIEW</a:t>
            </a:r>
            <a:endParaRPr sz="24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960120"/>
            <a:ext cx="525780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960120"/>
            <a:ext cx="5257800" cy="109728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2" y="1124712"/>
            <a:ext cx="502920" cy="502920"/>
          </a:xfrm>
          <a:prstGeom prst="ellipse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612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◎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4168" y="1124712"/>
            <a:ext cx="4343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46C8"/>
                </a:solidFill>
                <a:latin typeface="Aptos"/>
              </a:rPr>
              <a:t>AIM</a:t>
            </a:r>
            <a:endParaRPr sz="16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5528" y="1673352"/>
            <a:ext cx="4855464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To simulate a cloud scenario using CloudSim and run a scheduling algorithm that is not present in CloudSim.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80760" y="960120"/>
            <a:ext cx="525780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80760" y="960120"/>
            <a:ext cx="5257800" cy="109728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45352" y="1124712"/>
            <a:ext cx="502920" cy="502920"/>
          </a:xfrm>
          <a:prstGeom prst="ellipse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11612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⚙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30568" y="1124712"/>
            <a:ext cx="4343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82E6"/>
                </a:solidFill>
                <a:latin typeface="Aptos"/>
              </a:rPr>
              <a:t>CORE TOOLS</a:t>
            </a:r>
            <a:endParaRPr sz="1600" b="1">
              <a:solidFill>
                <a:srgbClr val="2382E6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81928" y="1673352"/>
            <a:ext cx="4855464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Eclipse IDE • CloudSim 3.0.3 • Apache Commons Math 3.x • Java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" y="306324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063240"/>
            <a:ext cx="3383280" cy="109728"/>
          </a:xfrm>
          <a:prstGeom prst="roundRect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8952" y="3227832"/>
            <a:ext cx="502920" cy="502920"/>
          </a:xfrm>
          <a:prstGeom prst="ellipse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26440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↓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44168" y="322783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8C23"/>
                </a:solidFill>
                <a:latin typeface="Aptos"/>
              </a:rPr>
              <a:t>INPUT</a:t>
            </a:r>
            <a:endParaRPr sz="1600" b="1">
              <a:solidFill>
                <a:srgbClr val="F58C2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5528" y="3776472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Download the required packages and source files.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160520" y="306324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063240"/>
            <a:ext cx="3383280" cy="109728"/>
          </a:xfrm>
          <a:prstGeom prst="round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25112" y="3227832"/>
            <a:ext cx="502920" cy="502920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5112" y="326440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10328" y="3227832"/>
            <a:ext cx="2468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6AA64"/>
                </a:solidFill>
                <a:latin typeface="Aptos"/>
              </a:rPr>
              <a:t>CONFIGURE</a:t>
            </a:r>
            <a:endParaRPr sz="1600" b="1">
              <a:solidFill>
                <a:srgbClr val="36AA64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61688" y="3776472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Create a Java project and attach the CloudSim source + external JAR.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726679" y="306324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79" y="3063240"/>
            <a:ext cx="3383280" cy="109728"/>
          </a:xfrm>
          <a:prstGeom prst="roundRect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91271" y="3227832"/>
            <a:ext cx="502920" cy="502920"/>
          </a:xfrm>
          <a:prstGeom prst="ellipse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271" y="326440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▶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76488" y="3227832"/>
            <a:ext cx="2468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4687"/>
                </a:solidFill>
                <a:latin typeface="Aptos"/>
              </a:rPr>
              <a:t>EXECUTE</a:t>
            </a:r>
            <a:endParaRPr sz="1600" b="1">
              <a:solidFill>
                <a:srgbClr val="EB4687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927848" y="3776472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Run CloudSimExample1 and observe the Eclipse console output.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7280" y="534924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42B5C"/>
                </a:solidFill>
                <a:latin typeface="Aptos"/>
              </a:rPr>
              <a:t>Experiment flow: Download → Import → Configure → Build → Run → Verify</a:t>
            </a:r>
            <a:endParaRPr sz="1500" b="1">
              <a:solidFill>
                <a:srgbClr val="242B5C"/>
              </a:solidFill>
              <a:latin typeface="Aptos"/>
            </a:endParaRPr>
          </a:p>
        </p:txBody>
      </p:sp>
      <p:sp>
        <p:nvSpPr>
          <p:cNvPr id="38" name="Rounded Rectangle 37">
            <a:hlinkClick r:id="rId1" action="ppaction://hlinksldjump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0" name="Rounded Rectangle 39">
            <a:hlinkClick r:id="rId2" action="ppaction://hlinksldjump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382E6"/>
                </a:solidFill>
                <a:latin typeface="Aptos"/>
              </a:rPr>
              <a:t>DOWNLOAD THE REQUIRED TOOLS</a:t>
            </a:r>
            <a:endParaRPr sz="2400" b="1">
              <a:solidFill>
                <a:srgbClr val="2382E6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53949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-24.png_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060704"/>
            <a:ext cx="5230368" cy="2359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3456432"/>
            <a:ext cx="5175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82E6"/>
                </a:solidFill>
                <a:latin typeface="Aptos"/>
              </a:rPr>
              <a:t>Eclipse for Windows x86_64</a:t>
            </a:r>
            <a:endParaRPr sz="1100" b="1">
              <a:solidFill>
                <a:srgbClr val="2382E6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80760" y="914400"/>
            <a:ext cx="53949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-25.pn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060704"/>
            <a:ext cx="5230368" cy="23591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0488" y="3456432"/>
            <a:ext cx="5175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8C23"/>
                </a:solidFill>
                <a:latin typeface="Aptos"/>
              </a:rPr>
              <a:t>CloudSim + Commons Math downloads</a:t>
            </a:r>
            <a:endParaRPr sz="1100" b="1">
              <a:solidFill>
                <a:srgbClr val="F58C23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106070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160520"/>
            <a:ext cx="10607040" cy="109728"/>
          </a:xfrm>
          <a:prstGeom prst="round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392" y="4325112"/>
            <a:ext cx="502920" cy="502920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3616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35607" y="4325112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6AA64"/>
                </a:solidFill>
                <a:latin typeface="Aptos"/>
              </a:rPr>
              <a:t>QUICK CHECK</a:t>
            </a:r>
            <a:endParaRPr sz="1600" b="1">
              <a:solidFill>
                <a:srgbClr val="36AA6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968" y="4873752"/>
            <a:ext cx="102047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Keep Eclipse, cloudsim-3.0.3 and commons-math3-3.6.1 extracted on the local machine before starting the project setup.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42B5C"/>
                </a:solidFill>
                <a:latin typeface="Aptos"/>
              </a:rPr>
              <a:t>Lab-manual sequence: Step 1 → Eclipse • Step 2 → CloudSim • Step 3 → Commons Math</a:t>
            </a:r>
            <a:endParaRPr sz="1150" b="1">
              <a:solidFill>
                <a:srgbClr val="242B5C"/>
              </a:solidFill>
              <a:latin typeface="Aptos"/>
            </a:endParaRPr>
          </a:p>
        </p:txBody>
      </p:sp>
      <p:sp>
        <p:nvSpPr>
          <p:cNvPr id="20" name="Rounded Rectangle 19">
            <a:hlinkClick r:id="rId3" action="ppaction://hlinksldjump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Rounded Rectangle 21">
            <a:hlinkClick r:id="rId4" action="ppaction://hlinksldjump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46C8"/>
                </a:solidFill>
                <a:latin typeface="Aptos"/>
              </a:rPr>
              <a:t>CREATE THE CLOUDSIM PROJECT</a:t>
            </a:r>
            <a:endParaRPr sz="24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53492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-26.png_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060704"/>
            <a:ext cx="5184648" cy="18562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295351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46C8"/>
                </a:solidFill>
                <a:latin typeface="Aptos"/>
              </a:rPr>
              <a:t>Eclipse → File → New → Project</a:t>
            </a:r>
            <a:endParaRPr sz="11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80760" y="914400"/>
            <a:ext cx="53492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-27.pn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060704"/>
            <a:ext cx="5184648" cy="18562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0488" y="295351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82E6"/>
                </a:solidFill>
                <a:latin typeface="Aptos"/>
              </a:rPr>
              <a:t>Choose Java Project</a:t>
            </a:r>
            <a:endParaRPr sz="1100" b="1">
              <a:solidFill>
                <a:srgbClr val="2382E6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611880"/>
            <a:ext cx="33832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3383280" cy="109728"/>
          </a:xfrm>
          <a:prstGeom prst="roundRect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2" y="3776472"/>
            <a:ext cx="502920" cy="502920"/>
          </a:xfrm>
          <a:prstGeom prst="ellipse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813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06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44168" y="377647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8C23"/>
                </a:solidFill>
                <a:latin typeface="Aptos"/>
              </a:rPr>
              <a:t>STEP 6</a:t>
            </a:r>
            <a:endParaRPr sz="1600" b="1">
              <a:solidFill>
                <a:srgbClr val="F58C2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5528" y="4325112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Open Eclipse and choose File → New → Project.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60520" y="3611880"/>
            <a:ext cx="33832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60520" y="3611880"/>
            <a:ext cx="3383280" cy="109728"/>
          </a:xfrm>
          <a:prstGeom prst="round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25112" y="3776472"/>
            <a:ext cx="502920" cy="502920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3813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07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10328" y="3776472"/>
            <a:ext cx="2468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6AA64"/>
                </a:solidFill>
                <a:latin typeface="Aptos"/>
              </a:rPr>
              <a:t>STEP 7</a:t>
            </a:r>
            <a:endParaRPr sz="1600" b="1">
              <a:solidFill>
                <a:srgbClr val="36AA64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61688" y="4325112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Select Java Project and click Next.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726679" y="3611880"/>
            <a:ext cx="33832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26679" y="3611880"/>
            <a:ext cx="3383280" cy="109728"/>
          </a:xfrm>
          <a:prstGeom prst="roundRect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91271" y="3776472"/>
            <a:ext cx="502920" cy="502920"/>
          </a:xfrm>
          <a:prstGeom prst="ellipse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3813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08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76488" y="3776472"/>
            <a:ext cx="2468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4687"/>
                </a:solidFill>
                <a:latin typeface="Aptos"/>
              </a:rPr>
              <a:t>STEP 8</a:t>
            </a:r>
            <a:endParaRPr sz="1600" b="1">
              <a:solidFill>
                <a:srgbClr val="EB4687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927848" y="4325112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Set the project name to CloudSim and point to the extracted source.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31" name="Rounded Rectangle 30">
            <a:hlinkClick r:id="rId3" action="ppaction://hlinksldjump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3" name="Rounded Rectangle 32">
            <a:hlinkClick r:id="rId4" action="ppaction://hlinksldjump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58C23"/>
                </a:solidFill>
                <a:latin typeface="Aptos"/>
              </a:rPr>
              <a:t>SET THE PROJECT LOCATION &amp; SOURCE</a:t>
            </a:r>
            <a:endParaRPr sz="2300" b="1">
              <a:solidFill>
                <a:srgbClr val="F58C23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534924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-28.png_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060704"/>
            <a:ext cx="5184648" cy="1901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299923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8C23"/>
                </a:solidFill>
                <a:latin typeface="Aptos"/>
              </a:rPr>
              <a:t>Select CloudSim source location</a:t>
            </a:r>
            <a:endParaRPr sz="1100" b="1">
              <a:solidFill>
                <a:srgbClr val="F58C23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80760" y="914400"/>
            <a:ext cx="534924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-29.pn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060704"/>
            <a:ext cx="5184648" cy="19019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0488" y="299923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6AA64"/>
                </a:solidFill>
                <a:latin typeface="Aptos"/>
              </a:rPr>
              <a:t>Project settings / source path</a:t>
            </a:r>
            <a:endParaRPr sz="1100" b="1">
              <a:solidFill>
                <a:srgbClr val="36AA64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703320"/>
            <a:ext cx="507492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703320"/>
            <a:ext cx="5074920" cy="109728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2" y="3867911"/>
            <a:ext cx="502920" cy="502920"/>
          </a:xfrm>
          <a:prstGeom prst="ellipse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04487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44168" y="3867911"/>
            <a:ext cx="4160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82E6"/>
                </a:solidFill>
                <a:latin typeface="Aptos"/>
              </a:rPr>
              <a:t>KEY POINT</a:t>
            </a:r>
            <a:endParaRPr sz="1600" b="1">
              <a:solidFill>
                <a:srgbClr val="2382E6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5528" y="4416552"/>
            <a:ext cx="467258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Unselect “Use default location” and browse to the folder where CloudSim was extracted.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97880" y="3703320"/>
            <a:ext cx="507492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97880" y="3703320"/>
            <a:ext cx="5074920" cy="109728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62472" y="3867911"/>
            <a:ext cx="502920" cy="502920"/>
          </a:xfrm>
          <a:prstGeom prst="ellipse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3904487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⌕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47688" y="3867911"/>
            <a:ext cx="4160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46C8"/>
                </a:solidFill>
                <a:latin typeface="Aptos"/>
              </a:rPr>
              <a:t>VERIFY</a:t>
            </a:r>
            <a:endParaRPr sz="16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99048" y="4416552"/>
            <a:ext cx="467258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Continue until the project structure shows folders such as bin, docs and examples.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25" name="Rounded Rectangle 24">
            <a:hlinkClick r:id="rId3" action="ppaction://hlinksldjump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ounded Rectangle 26">
            <a:hlinkClick r:id="rId4" action="ppaction://hlinksldjump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28600" y="1645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36AA64"/>
                </a:solidFill>
                <a:latin typeface="Aptos"/>
              </a:rPr>
              <a:t>ADD EXTERNAL JAR &amp; CONFIGURE</a:t>
            </a:r>
            <a:endParaRPr sz="2300" b="1">
              <a:solidFill>
                <a:srgbClr val="36AA64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53492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-30.png_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060704"/>
            <a:ext cx="5184648" cy="18562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295351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6AA64"/>
                </a:solidFill>
                <a:latin typeface="Aptos"/>
              </a:rPr>
              <a:t>Libraries → Add External JARs</a:t>
            </a:r>
            <a:endParaRPr sz="1100" b="1">
              <a:solidFill>
                <a:srgbClr val="36AA64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80760" y="914400"/>
            <a:ext cx="53492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-31.pn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060704"/>
            <a:ext cx="5184648" cy="18562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0488" y="295351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82E6"/>
                </a:solidFill>
                <a:latin typeface="Aptos"/>
              </a:rPr>
              <a:t>Select commons-math3-3.x.jar</a:t>
            </a:r>
            <a:endParaRPr sz="1100" b="1">
              <a:solidFill>
                <a:srgbClr val="2382E6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611880"/>
            <a:ext cx="33832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3383280" cy="109728"/>
          </a:xfrm>
          <a:prstGeom prst="roundRect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2" y="3776472"/>
            <a:ext cx="502920" cy="502920"/>
          </a:xfrm>
          <a:prstGeom prst="ellipse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813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12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44168" y="377647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8C23"/>
                </a:solidFill>
                <a:latin typeface="Aptos"/>
              </a:rPr>
              <a:t>STEP 12</a:t>
            </a:r>
            <a:endParaRPr sz="1600" b="1">
              <a:solidFill>
                <a:srgbClr val="F58C2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5528" y="4325112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Open the Libraries tab and choose Add External JARs if needed.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60520" y="3611880"/>
            <a:ext cx="33832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60520" y="3611880"/>
            <a:ext cx="3383280" cy="109728"/>
          </a:xfrm>
          <a:prstGeom prst="roundRect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25112" y="3776472"/>
            <a:ext cx="502920" cy="502920"/>
          </a:xfrm>
          <a:prstGeom prst="ellipse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3813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13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10328" y="3776472"/>
            <a:ext cx="2468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4687"/>
                </a:solidFill>
                <a:latin typeface="Aptos"/>
              </a:rPr>
              <a:t>STEP 13</a:t>
            </a:r>
            <a:endParaRPr sz="1600" b="1">
              <a:solidFill>
                <a:srgbClr val="EB4687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61688" y="4325112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Browse to the Commons Math binary and select the JAR.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726679" y="3611880"/>
            <a:ext cx="33832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26679" y="3611880"/>
            <a:ext cx="3383280" cy="109728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91271" y="3776472"/>
            <a:ext cx="502920" cy="502920"/>
          </a:xfrm>
          <a:prstGeom prst="ellipse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3813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76488" y="3776472"/>
            <a:ext cx="2468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46C8"/>
                </a:solidFill>
                <a:latin typeface="Aptos"/>
              </a:rPr>
              <a:t>STEP 14–15</a:t>
            </a:r>
            <a:endParaRPr sz="16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927848" y="4325112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Confirm the JAR, click Finish, then let Eclipse build the project.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31" name="Rounded Rectangle 30">
            <a:hlinkClick r:id="rId3" action="ppaction://hlinksldjump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3" name="Rounded Rectangle 32">
            <a:hlinkClick r:id="rId4" action="ppaction://hlinksldjump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6446C8"/>
                </a:solidFill>
                <a:latin typeface="Aptos"/>
              </a:rPr>
              <a:t>INTERACTIVE CLOUDSIM LAB WORKFLOW</a:t>
            </a:r>
            <a:endParaRPr sz="23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698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978407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446C8"/>
                </a:solidFill>
                <a:latin typeface="Aptos"/>
              </a:rPr>
              <a:t>Download</a:t>
            </a:r>
            <a:endParaRPr sz="15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134416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Eclipse + CloudSim</a:t>
            </a:r>
            <a:endParaRPr sz="11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4840" y="10698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6360" y="978407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82E6"/>
                </a:solidFill>
                <a:latin typeface="Aptos"/>
              </a:rPr>
              <a:t>Extract</a:t>
            </a:r>
            <a:endParaRPr sz="1500" b="1">
              <a:solidFill>
                <a:srgbClr val="2382E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66360" y="134416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CloudSim + Commons Math</a:t>
            </a:r>
            <a:endParaRPr sz="11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0" y="10698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0" y="978407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8C23"/>
                </a:solidFill>
                <a:latin typeface="Aptos"/>
              </a:rPr>
              <a:t>Create</a:t>
            </a:r>
            <a:endParaRPr sz="1500" b="1">
              <a:solidFill>
                <a:srgbClr val="F58C2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61120" y="134416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Java project: CloudSim</a:t>
            </a:r>
            <a:endParaRPr sz="11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248716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2395728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AA64"/>
                </a:solidFill>
                <a:latin typeface="Aptos"/>
              </a:rPr>
              <a:t>Browse</a:t>
            </a:r>
            <a:endParaRPr sz="1500" b="1">
              <a:solidFill>
                <a:srgbClr val="36AA6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71600" y="276148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Select extracted source</a:t>
            </a:r>
            <a:endParaRPr sz="11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34840" y="248716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66360" y="2395728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B4687"/>
                </a:solidFill>
                <a:latin typeface="Aptos"/>
              </a:rPr>
              <a:t>Add JAR</a:t>
            </a:r>
            <a:endParaRPr sz="1500" b="1">
              <a:solidFill>
                <a:srgbClr val="EB468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66360" y="276148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commons-math3-3.x.jar</a:t>
            </a:r>
            <a:endParaRPr sz="11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0" y="248716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06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61120" y="2395728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B4BE"/>
                </a:solidFill>
                <a:latin typeface="Aptos"/>
              </a:rPr>
              <a:t>Finish</a:t>
            </a:r>
            <a:endParaRPr sz="1500" b="1">
              <a:solidFill>
                <a:srgbClr val="1CB4BE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61120" y="276148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Build &amp; configure</a:t>
            </a:r>
            <a:endParaRPr sz="11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3904487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07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71600" y="3813048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BE2D"/>
                </a:solidFill>
                <a:latin typeface="Aptos"/>
              </a:rPr>
              <a:t>Open</a:t>
            </a:r>
            <a:endParaRPr sz="1500" b="1">
              <a:solidFill>
                <a:srgbClr val="F5BE2D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71600" y="417880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CloudSimExample1.java</a:t>
            </a:r>
            <a:endParaRPr sz="11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34840" y="3904487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08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66360" y="3813048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42B5C"/>
                </a:solidFill>
                <a:latin typeface="Aptos"/>
              </a:rPr>
              <a:t>Run</a:t>
            </a:r>
            <a:endParaRPr sz="1500" b="1">
              <a:solidFill>
                <a:srgbClr val="242B5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66360" y="417880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Run → Run / Ctrl+F11</a:t>
            </a:r>
            <a:endParaRPr sz="11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0" y="3904487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09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961120" y="3813048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446C8"/>
                </a:solidFill>
                <a:latin typeface="Aptos"/>
              </a:rPr>
              <a:t>Verify</a:t>
            </a:r>
            <a:endParaRPr sz="15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61120" y="417880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Read console output</a:t>
            </a:r>
            <a:endParaRPr sz="11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20" y="541324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42B5C"/>
                </a:solidFill>
                <a:latin typeface="Aptos"/>
              </a:rPr>
              <a:t>RUN:  CloudsimExample1.java   →   Run / Ctrl+F11   →   Eclipse Console Output</a:t>
            </a:r>
            <a:endParaRPr sz="1300" b="1">
              <a:solidFill>
                <a:srgbClr val="242B5C"/>
              </a:solidFill>
              <a:latin typeface="Aptos"/>
            </a:endParaRPr>
          </a:p>
        </p:txBody>
      </p:sp>
      <p:sp>
        <p:nvSpPr>
          <p:cNvPr id="35" name="Rounded Rectangle 34">
            <a:hlinkClick r:id="rId1" action="ppaction://hlinksldjump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Rounded Rectangle 36">
            <a:hlinkClick r:id="rId2" action="ppaction://hlinksldjump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11480" y="16459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B4687"/>
                </a:solidFill>
                <a:latin typeface="Aptos"/>
              </a:rPr>
              <a:t>EXECUTION, OUTPUT &amp; RESULT</a:t>
            </a:r>
            <a:endParaRPr sz="2400" b="1">
              <a:solidFill>
                <a:srgbClr val="EB4687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534924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-32.png_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060704"/>
            <a:ext cx="5184648" cy="1764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286207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82E6"/>
                </a:solidFill>
                <a:latin typeface="Aptos"/>
              </a:rPr>
              <a:t>CloudSim project structure</a:t>
            </a:r>
            <a:endParaRPr sz="1100" b="1">
              <a:solidFill>
                <a:srgbClr val="2382E6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80760" y="914400"/>
            <a:ext cx="534924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-33.pn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060704"/>
            <a:ext cx="5184648" cy="1764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0488" y="286207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46C8"/>
                </a:solidFill>
                <a:latin typeface="Aptos"/>
              </a:rPr>
              <a:t>Open &amp; run CloudSimExample1</a:t>
            </a:r>
            <a:endParaRPr sz="1100" b="1">
              <a:solidFill>
                <a:srgbClr val="6446C8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493008"/>
            <a:ext cx="53492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age-34.png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639312"/>
            <a:ext cx="5184648" cy="13990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" y="5074920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6AA64"/>
                </a:solidFill>
                <a:latin typeface="Aptos"/>
              </a:rPr>
              <a:t>Eclipse console execution</a:t>
            </a:r>
            <a:endParaRPr sz="1100" b="1">
              <a:solidFill>
                <a:srgbClr val="36AA6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80760" y="3493008"/>
            <a:ext cx="53492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0760" y="3493008"/>
            <a:ext cx="5349240" cy="109728"/>
          </a:xfrm>
          <a:prstGeom prst="roundRect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45352" y="3657600"/>
            <a:ext cx="502920" cy="502920"/>
          </a:xfrm>
          <a:prstGeom prst="ellipse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3694176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30568" y="3657600"/>
            <a:ext cx="4434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8C23"/>
                </a:solidFill>
                <a:latin typeface="Aptos"/>
              </a:rPr>
              <a:t>RESULT</a:t>
            </a:r>
            <a:endParaRPr sz="1600" b="1">
              <a:solidFill>
                <a:srgbClr val="F58C23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81928" y="4206240"/>
            <a:ext cx="494690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Thus, the CloudSim scenario is simulated using the Eclipse environment successfully.</a:t>
            </a:r>
            <a:endParaRPr sz="1250" b="0">
              <a:solidFill>
                <a:srgbClr val="23232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42B5C"/>
                </a:solidFill>
                <a:latin typeface="Aptos"/>
              </a:rPr>
              <a:t>Final check: Project builds → Example opens → Run completes → Console displays the simulation output</a:t>
            </a:r>
            <a:endParaRPr sz="1150" b="1">
              <a:solidFill>
                <a:srgbClr val="242B5C"/>
              </a:solidFill>
              <a:latin typeface="Aptos"/>
            </a:endParaRPr>
          </a:p>
        </p:txBody>
      </p:sp>
      <p:sp>
        <p:nvSpPr>
          <p:cNvPr id="23" name="Rounded Rectangle 22">
            <a:hlinkClick r:id="rId4" action="ppaction://hlinksldjump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3284</Words>
  <Application>WPS Presentation</Application>
  <PresentationFormat/>
  <Paragraphs>316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Aptos</vt:lpstr>
      <vt:lpstr>Segoe UI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 CONTENTS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Kaviya rs</cp:lastModifiedBy>
  <cp:revision>1</cp:revision>
  <dcterms:created xsi:type="dcterms:W3CDTF">2026-08-20T16:57:05Z</dcterms:created>
  <dcterms:modified xsi:type="dcterms:W3CDTF">2026-08-20T16:57:05Z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8BC9E3FC8D0A45F3B62DF9F4CC8BB67C_12</vt:lpwstr>
  </property>
  <property fmtid="{D5CDD505-2E9C-101B-9397-08002B2CF9AE}" pid="3" name="KSOProductBuildVer">
    <vt:lpwstr>1033-12.1.0.28032</vt:lpwstr>
  </property>
</Properties>
</file>