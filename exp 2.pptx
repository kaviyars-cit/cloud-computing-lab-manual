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</a:fld>
            <a:endParaRPr lang="en-IN" b="1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/>
          <p:cNvSpPr txBox="1"/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11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7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9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8" name="Picture 2" descr="Startup 2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</a:fld>
            <a:endParaRPr lang="en-IN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  <a:endParaRPr lang="en-US" sz="2800" dirty="0"/>
          </a:p>
          <a:p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19105" y="3853488"/>
            <a:ext cx="6578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Times New Roman" panose="02020603050405020304"/>
              </a:rPr>
              <a:t>Installation of a C Compiler in a Virtual Machine</a:t>
            </a:r>
            <a:endParaRPr sz="2400" b="1">
              <a:latin typeface="Times New Roman" panose="02020603050405020304"/>
            </a:endParaRPr>
          </a:p>
        </p:txBody>
      </p:sp>
      <p:sp>
        <p:nvSpPr>
          <p:cNvPr id="19" name="Subtitle 2"/>
          <p:cNvSpPr txBox="1"/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Footer Placeholder 2"/>
          <p:cNvSpPr txBox="1"/>
          <p:nvPr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CONTENTS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pPr marL="571500" lvl="0" indent="-571500">
              <a:spcAft>
                <a:spcPts val="800"/>
              </a:spcAft>
              <a:buFont typeface="+mj-lt"/>
              <a:buAutoNum type="romanUcPeriod"/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Experiment Aim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Virtual Machine &amp; Tools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Install the C Compiler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Write and Save a C Program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Compile the Program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Execute and Verify Output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91919"/>
                </a:solidFill>
                <a:latin typeface="Times New Roman" panose="02020603050405020304"/>
              </a:rPr>
              <a:t>Result &amp; Key Takeaways</a:t>
            </a:r>
            <a:endParaRPr sz="22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</a:fld>
            <a:endParaRPr lang="en-IN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</a:fld>
            <a:endParaRPr lang="en-IN" sz="1800" b="1"/>
          </a:p>
        </p:txBody>
      </p:sp>
      <p:sp>
        <p:nvSpPr>
          <p:cNvPr id="7" name="TextBox 6"/>
          <p:cNvSpPr txBox="1"/>
          <p:nvPr/>
        </p:nvSpPr>
        <p:spPr>
          <a:xfrm>
            <a:off x="3126658" y="6356350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 dirty="0">
                <a:solidFill>
                  <a:srgbClr val="191919"/>
                </a:solidFill>
                <a:latin typeface="Times New Roman" panose="02020603050405020304"/>
              </a:rPr>
              <a:t>EXPERIMENT AIM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70" y="1250302"/>
            <a:ext cx="7299950" cy="4926661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 panose="02020603050405020304"/>
              </a:rPr>
              <a:t>Ex. No: 02 — Virtual Machine – C Compiler</a:t>
            </a: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 panose="02020603050405020304"/>
              </a:rPr>
              <a:t> AIM</a:t>
            </a: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Install a C compiler in the virtual machine created using a virtual box and execute simple </a:t>
            </a:r>
            <a:r>
              <a:rPr sz="1550" b="0" dirty="0" err="1">
                <a:solidFill>
                  <a:srgbClr val="191919"/>
                </a:solidFill>
                <a:latin typeface="Times New Roman" panose="02020603050405020304"/>
              </a:rPr>
              <a:t>progra</a:t>
            </a:r>
            <a:r>
              <a:rPr lang="en-IN" sz="1550" b="0" dirty="0">
                <a:solidFill>
                  <a:srgbClr val="191919"/>
                </a:solidFill>
                <a:latin typeface="Times New Roman" panose="02020603050405020304"/>
              </a:rPr>
              <a:t>m</a:t>
            </a:r>
            <a:r>
              <a:rPr sz="1550" b="0" dirty="0" err="1">
                <a:solidFill>
                  <a:srgbClr val="191919"/>
                </a:solidFill>
                <a:latin typeface="Times New Roman" panose="02020603050405020304"/>
              </a:rPr>
              <a:t>ms.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 panose="02020603050405020304"/>
              </a:rPr>
              <a:t>WHAT WE WILL ACHIEVE</a:t>
            </a: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• Start the guest virtual machine.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• Install the compiler toolchain and GCC libraries.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• Create a C source file inside the guest system.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• Compile the source file using cc.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sz="1550" b="0" dirty="0">
                <a:solidFill>
                  <a:srgbClr val="191919"/>
                </a:solidFill>
                <a:latin typeface="Times New Roman" panose="02020603050405020304"/>
              </a:rPr>
              <a:t>• Execute the generated program and verify the output.</a:t>
            </a:r>
            <a:endParaRPr sz="1550" b="0" dirty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5" descr="page1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2123" y="81684"/>
            <a:ext cx="4549877" cy="6411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26658" y="6422509"/>
            <a:ext cx="548394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88" y="-177995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VIRTUAL MACHINE &amp; TOOLS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015" y="855241"/>
            <a:ext cx="10515600" cy="4351338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sz="2000" b="1">
                <a:solidFill>
                  <a:srgbClr val="191919"/>
                </a:solidFill>
                <a:latin typeface="Times New Roman" panose="02020603050405020304"/>
              </a:rPr>
              <a:t>LAB ENVIRONMENT</a:t>
            </a:r>
            <a:endParaRPr sz="20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1. VMware Player / Workstation — hosts the virtual machine.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2. CorePlus guest OS — the Linux-based environment used in the manual.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3. Terminal — used to install the compiler and run commands.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4. compiletc package — installs the compiler toolchain and GCC libraries.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5. Text editor — used to create and save the .c source file.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6. cc compiler — converts the C source into an executable program.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2000" b="1">
                <a:solidFill>
                  <a:srgbClr val="191919"/>
                </a:solidFill>
                <a:latin typeface="Times New Roman" panose="02020603050405020304"/>
              </a:rPr>
              <a:t>FLOW</a:t>
            </a:r>
            <a:endParaRPr sz="20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91919"/>
                </a:solidFill>
                <a:latin typeface="Times New Roman" panose="02020603050405020304"/>
              </a:rPr>
              <a:t>Host Windows → VMware → CorePlus VM → Terminal → C Compiler → Executable</a:t>
            </a:r>
            <a:endParaRPr sz="1700" b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HOST</a:t>
            </a:r>
            <a:endParaRPr sz="1300">
              <a:solidFill>
                <a:srgbClr val="191919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0" y="2167128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VMWARE</a:t>
            </a:r>
            <a:endParaRPr sz="1300">
              <a:solidFill>
                <a:srgbClr val="191919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0" y="2825496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COREPLUS</a:t>
            </a:r>
            <a:endParaRPr sz="1300">
              <a:solidFill>
                <a:srgbClr val="191919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315200" y="3483864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TERMINAL</a:t>
            </a:r>
            <a:endParaRPr sz="1300">
              <a:solidFill>
                <a:srgbClr val="191919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0" y="4142232"/>
            <a:ext cx="3017520" cy="438912"/>
          </a:xfrm>
          <a:prstGeom prst="roundRect">
            <a:avLst/>
          </a:prstGeom>
          <a:solidFill>
            <a:srgbClr val="EBEBEB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91919"/>
                </a:solidFill>
              </a:rPr>
              <a:t>GCC / CC</a:t>
            </a:r>
            <a:endParaRPr sz="1300">
              <a:solidFill>
                <a:srgbClr val="19191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65988" y="6352143"/>
            <a:ext cx="544461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959" y="0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INSTALL THE C COMPILER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346" y="1178686"/>
            <a:ext cx="11226281" cy="5007510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900" b="1">
                <a:solidFill>
                  <a:srgbClr val="191919"/>
                </a:solidFill>
                <a:latin typeface="Times New Roman" panose="02020603050405020304"/>
              </a:rPr>
              <a:t>STEP-BY-STEP</a:t>
            </a:r>
            <a:endParaRPr sz="1900" b="1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1. Install the VMware player and host the Virtual Machine (CorePlus).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2. Open VMware Workstation and power on the virtual machine.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3. After the guest OS loads, open the Terminal.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4. Type the installation command: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Courier New" panose="02070309020205020404"/>
              </a:rPr>
              <a:t>   tc@box:~$ tce-load -wi compiletc</a:t>
            </a:r>
            <a:endParaRPr sz="1600" b="0">
              <a:solidFill>
                <a:srgbClr val="191919"/>
              </a:solidFill>
              <a:latin typeface="Courier New" panose="02070309020205020404"/>
            </a:endParaRP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Courier New" panose="020703090202050204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5. Wait for the compiler package and required libraries to finish installing.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91919"/>
                </a:solidFill>
                <a:latin typeface="Times New Roman" panose="02020603050405020304"/>
              </a:rPr>
              <a:t>6. When installation completes, the terminal returns to the prompt.</a:t>
            </a: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600" b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900" b="1">
                <a:solidFill>
                  <a:srgbClr val="191919"/>
                </a:solidFill>
                <a:latin typeface="Times New Roman" panose="02020603050405020304"/>
              </a:rPr>
              <a:t>CHECKPOINT ✓  The compiler toolchain is now available inside the guest VM.</a:t>
            </a:r>
            <a:endParaRPr sz="19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5" descr="page1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143000"/>
            <a:ext cx="324612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24981" y="6356350"/>
            <a:ext cx="538561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04" y="-204042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CREATE, COMPILE &amp; RUN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85799" y="2428294"/>
          <a:ext cx="7140677" cy="3176976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877586"/>
                <a:gridCol w="4263091"/>
              </a:tblGrid>
              <a:tr h="369416">
                <a:tc>
                  <a:txBody>
                    <a:bodyPr/>
                    <a:lstStyle/>
                    <a:p>
                      <a:r>
                        <a:rPr sz="1400" b="1"/>
                        <a:t>COMMAND / ACTION</a:t>
                      </a:r>
                      <a:endParaRPr sz="1400" b="1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400" b="1"/>
                        <a:t>PURPOSE</a:t>
                      </a:r>
                      <a:endParaRPr sz="1400" b="1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sudo editor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Open the text editor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 dirty="0"/>
                        <a:t>Save as </a:t>
                      </a:r>
                      <a:r>
                        <a:rPr sz="1300" b="0" dirty="0" err="1"/>
                        <a:t>demo.c</a:t>
                      </a:r>
                      <a:endParaRPr sz="1300" b="0" dirty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Store the C source with .c extension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CTRL + Q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Exit editor and return to terminal</a:t>
                      </a:r>
                      <a:endParaRPr sz="1300" b="0" dirty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cc demo.c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Compile the C source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./a.out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Run the compiled program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Enter year: 1991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Sample input shown in the manual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1991 is not a Leap Year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/>
                        <a:t>Sample output shown in the manual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  <a:tr h="350945">
                <a:tc>
                  <a:txBody>
                    <a:bodyPr/>
                    <a:lstStyle/>
                    <a:p>
                      <a:r>
                        <a:rPr sz="1300" b="0"/>
                        <a:t>Prompt returns</a:t>
                      </a:r>
                      <a:endParaRPr sz="1300" b="0">
                        <a:latin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dirty="0"/>
                        <a:t>Program execution is complete</a:t>
                      </a:r>
                      <a:endParaRPr sz="1300" b="0" dirty="0">
                        <a:latin typeface="Times New Roman" panose="02020603050405020304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61264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EXECUTION CYCLE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endParaRPr sz="1200" b="0" dirty="0">
              <a:solidFill>
                <a:srgbClr val="191919"/>
              </a:solidFill>
              <a:latin typeface="Times New Roman" panose="02020603050405020304"/>
            </a:endParaRPr>
          </a:p>
          <a:p>
            <a:r>
              <a:rPr sz="1200" b="0" dirty="0">
                <a:solidFill>
                  <a:srgbClr val="191919"/>
                </a:solidFill>
                <a:latin typeface="Times New Roman" panose="02020603050405020304"/>
              </a:rPr>
              <a:t>Write → Save → Compile → Run → Observe Output</a:t>
            </a:r>
            <a:endParaRPr sz="1200" b="0" dirty="0">
              <a:solidFill>
                <a:srgbClr val="191919"/>
              </a:solidFill>
              <a:latin typeface="Times New Roman" panose="02020603050405020304"/>
            </a:endParaRPr>
          </a:p>
          <a:p>
            <a:endParaRPr sz="1200" b="0" dirty="0">
              <a:solidFill>
                <a:srgbClr val="191919"/>
              </a:solidFill>
              <a:latin typeface="Times New Roman" panose="02020603050405020304"/>
            </a:endParaRPr>
          </a:p>
          <a:p>
            <a:r>
              <a:rPr sz="1200" b="0" dirty="0">
                <a:solidFill>
                  <a:srgbClr val="191919"/>
                </a:solidFill>
                <a:latin typeface="Times New Roman" panose="02020603050405020304"/>
              </a:rPr>
              <a:t>The manual uses a simple leap-year C program to demonstrate that the compiler and executable are working correctly.</a:t>
            </a:r>
            <a:endParaRPr sz="1200" b="0" dirty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1" y="2724120"/>
            <a:ext cx="2743200" cy="25853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C SOURCE</a:t>
            </a:r>
            <a:endParaRPr lang="en-IN" dirty="0"/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↓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cc </a:t>
            </a:r>
            <a:r>
              <a:rPr sz="1800" b="1" dirty="0" err="1">
                <a:solidFill>
                  <a:srgbClr val="191919"/>
                </a:solidFill>
                <a:latin typeface="Times New Roman" panose="02020603050405020304"/>
              </a:rPr>
              <a:t>demo.c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↓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 err="1">
                <a:solidFill>
                  <a:srgbClr val="191919"/>
                </a:solidFill>
                <a:latin typeface="Times New Roman" panose="02020603050405020304"/>
              </a:rPr>
              <a:t>a.out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↓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./</a:t>
            </a:r>
            <a:r>
              <a:rPr sz="1800" b="1" dirty="0" err="1">
                <a:solidFill>
                  <a:srgbClr val="191919"/>
                </a:solidFill>
                <a:latin typeface="Times New Roman" panose="02020603050405020304"/>
              </a:rPr>
              <a:t>a.out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↓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algn="ctr"/>
            <a:r>
              <a:rPr sz="1800" b="1" dirty="0">
                <a:solidFill>
                  <a:srgbClr val="191919"/>
                </a:solidFill>
                <a:latin typeface="Times New Roman" panose="02020603050405020304"/>
              </a:rPr>
              <a:t>OUTPUT</a:t>
            </a:r>
            <a:endParaRPr sz="1800" b="1" dirty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75819" y="6440129"/>
            <a:ext cx="55552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0672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EXECUTE &amp; VERIFY OUTPUT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239" y="939077"/>
            <a:ext cx="10971245" cy="4842685"/>
          </a:xfrm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2000" b="1" dirty="0">
                <a:solidFill>
                  <a:srgbClr val="191919"/>
                </a:solidFill>
                <a:latin typeface="Times New Roman" panose="02020603050405020304"/>
              </a:rPr>
              <a:t>RUN THE PROGRAM</a:t>
            </a: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1. Open the terminal after compilation.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2. Execute the generated program: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Courier New" panose="02070309020205020404"/>
              </a:rPr>
              <a:t>   </a:t>
            </a:r>
            <a:r>
              <a:rPr sz="1700" b="0" dirty="0" err="1">
                <a:solidFill>
                  <a:srgbClr val="191919"/>
                </a:solidFill>
                <a:latin typeface="Courier New" panose="02070309020205020404"/>
              </a:rPr>
              <a:t>tc@box</a:t>
            </a:r>
            <a:r>
              <a:rPr sz="1700" b="0" dirty="0">
                <a:solidFill>
                  <a:srgbClr val="191919"/>
                </a:solidFill>
                <a:latin typeface="Courier New" panose="02070309020205020404"/>
              </a:rPr>
              <a:t>:~$ ./</a:t>
            </a:r>
            <a:r>
              <a:rPr sz="1700" b="0" dirty="0" err="1">
                <a:solidFill>
                  <a:srgbClr val="191919"/>
                </a:solidFill>
                <a:latin typeface="Courier New" panose="02070309020205020404"/>
              </a:rPr>
              <a:t>a.out</a:t>
            </a:r>
            <a:endParaRPr sz="1700" b="0" dirty="0">
              <a:solidFill>
                <a:srgbClr val="191919"/>
              </a:solidFill>
              <a:latin typeface="Courier New" panose="02070309020205020404"/>
            </a:endParaRPr>
          </a:p>
          <a:p>
            <a:pPr>
              <a:spcAft>
                <a:spcPts val="400"/>
              </a:spcAft>
            </a:pPr>
            <a:endParaRPr sz="1700" b="0" dirty="0">
              <a:solidFill>
                <a:srgbClr val="191919"/>
              </a:solidFill>
              <a:latin typeface="Courier New" panose="02070309020205020404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3. Enter the requested value when prompted.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4. Observe the program response in the terminal.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2000" b="1" dirty="0">
                <a:solidFill>
                  <a:srgbClr val="191919"/>
                </a:solidFill>
                <a:latin typeface="Times New Roman" panose="02020603050405020304"/>
              </a:rPr>
              <a:t>VERIFICATION</a:t>
            </a:r>
            <a:endParaRPr sz="20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✓ The C source compiled without blocking errors.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✓ The executable launches from the terminal.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700" b="0" dirty="0">
                <a:solidFill>
                  <a:srgbClr val="191919"/>
                </a:solidFill>
                <a:latin typeface="Times New Roman" panose="02020603050405020304"/>
              </a:rPr>
              <a:t>✓ The sample run displays: 1991 is not a Leap Year.</a:t>
            </a:r>
            <a:endParaRPr sz="1700" b="0" dirty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5" descr="page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234440"/>
            <a:ext cx="333756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54477" y="6430297"/>
            <a:ext cx="535612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984" y="-129397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INTERACTIVE LAB WORKFLOW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291840" y="6390968"/>
            <a:ext cx="53187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084" y="872613"/>
            <a:ext cx="9497961" cy="47981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984" y="18255"/>
            <a:ext cx="10515600" cy="1325563"/>
          </a:xfrm>
        </p:spPr>
        <p:txBody>
          <a:bodyPr wrap="square"/>
          <a:lstStyle/>
          <a:p>
            <a:r>
              <a:rPr sz="2400" b="1">
                <a:solidFill>
                  <a:srgbClr val="191919"/>
                </a:solidFill>
                <a:latin typeface="Times New Roman" panose="02020603050405020304"/>
              </a:rPr>
              <a:t>RESULT &amp; KEY TAKEAWAYS</a:t>
            </a:r>
            <a:endParaRPr sz="2400" b="1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853" y="1343608"/>
            <a:ext cx="10377505" cy="4833355"/>
          </a:xfrm>
        </p:spPr>
        <p:txBody>
          <a:bodyPr wrap="square">
            <a:normAutofit fontScale="92500" lnSpcReduction="20000"/>
          </a:bodyPr>
          <a:lstStyle/>
          <a:p>
            <a:pPr marL="0" lv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 panose="02020603050405020304"/>
              </a:rPr>
              <a:t>RESULT</a:t>
            </a:r>
            <a:endParaRPr sz="19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Thus the installation of a C compiler in the virtual machine created using a virtual box and execution of simple programs were completed successfully.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 panose="02020603050405020304"/>
              </a:rPr>
              <a:t>KEY TAKEAWAYS</a:t>
            </a:r>
            <a:endParaRPr sz="19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900" b="1" dirty="0">
                <a:solidFill>
                  <a:srgbClr val="191919"/>
                </a:solidFill>
                <a:latin typeface="Times New Roman" panose="02020603050405020304"/>
              </a:rPr>
              <a:t>• A virtual machine provides the guest environment for development.</a:t>
            </a:r>
            <a:endParaRPr sz="19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• </a:t>
            </a:r>
            <a:r>
              <a:rPr sz="1600" b="0" dirty="0" err="1">
                <a:solidFill>
                  <a:srgbClr val="191919"/>
                </a:solidFill>
                <a:latin typeface="Times New Roman" panose="02020603050405020304"/>
              </a:rPr>
              <a:t>compiletc</a:t>
            </a: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 installs the compiler toolchain and GCC libraries.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• A C source file is saved with the .c extension.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• cc </a:t>
            </a:r>
            <a:r>
              <a:rPr sz="1600" b="0" dirty="0" err="1">
                <a:solidFill>
                  <a:srgbClr val="191919"/>
                </a:solidFill>
                <a:latin typeface="Times New Roman" panose="02020603050405020304"/>
              </a:rPr>
              <a:t>filename.c</a:t>
            </a: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 compiles the program.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• ./</a:t>
            </a:r>
            <a:r>
              <a:rPr sz="1600" b="0" dirty="0" err="1">
                <a:solidFill>
                  <a:srgbClr val="191919"/>
                </a:solidFill>
                <a:latin typeface="Times New Roman" panose="02020603050405020304"/>
              </a:rPr>
              <a:t>a.out</a:t>
            </a: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 executes the compiled program.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900" b="1" dirty="0">
                <a:solidFill>
                  <a:srgbClr val="191919"/>
                </a:solidFill>
                <a:latin typeface="Times New Roman" panose="02020603050405020304"/>
              </a:rPr>
              <a:t>QUICK CHECK</a:t>
            </a:r>
            <a:endParaRPr sz="1900" b="1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What is the purpose of  cc </a:t>
            </a:r>
            <a:r>
              <a:rPr sz="1600" b="0" dirty="0" err="1">
                <a:solidFill>
                  <a:srgbClr val="191919"/>
                </a:solidFill>
                <a:latin typeface="Times New Roman" panose="02020603050405020304"/>
              </a:rPr>
              <a:t>demo.c</a:t>
            </a: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 ?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191919"/>
                </a:solidFill>
                <a:latin typeface="Times New Roman" panose="02020603050405020304"/>
              </a:rPr>
              <a:t>Answer: It compiles the C source file into an executable program.</a:t>
            </a:r>
            <a:endParaRPr sz="1600" b="0" dirty="0">
              <a:solidFill>
                <a:srgbClr val="191919"/>
              </a:solidFill>
              <a:latin typeface="Times New Roman" panose="020206030504050203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</a:fld>
            <a:endParaRPr lang="en-IN"/>
          </a:p>
        </p:txBody>
      </p:sp>
      <p:pic>
        <p:nvPicPr>
          <p:cNvPr id="6" name="Picture 5" descr="page1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79" y="2011680"/>
            <a:ext cx="3154680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85653" y="6352143"/>
            <a:ext cx="542494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3309</Words>
  <Application>WPS Presentation</Application>
  <PresentationFormat>Widescreen</PresentationFormat>
  <Paragraphs>190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Times New Roman</vt:lpstr>
      <vt:lpstr>Times New Roman</vt:lpstr>
      <vt:lpstr>Calibri</vt:lpstr>
      <vt:lpstr>Courier New</vt:lpstr>
      <vt:lpstr>Microsoft YaHei</vt:lpstr>
      <vt:lpstr>Arial Unicode MS</vt:lpstr>
      <vt:lpstr>Calibri Light</vt:lpstr>
      <vt:lpstr>Office Theme</vt:lpstr>
      <vt:lpstr>PowerPoint 演示文稿</vt:lpstr>
      <vt:lpstr>CONTENTS</vt:lpstr>
      <vt:lpstr>EXPERIMENT AIM</vt:lpstr>
      <vt:lpstr>VIRTUAL MACHINE &amp; TOOLS</vt:lpstr>
      <vt:lpstr>INSTALL THE C COMPILER</vt:lpstr>
      <vt:lpstr>CREATE, COMPILE &amp; RUN</vt:lpstr>
      <vt:lpstr>EXECUTE &amp; VERIFY OUTPUT</vt:lpstr>
      <vt:lpstr>INTERACTIVE LAB WORKFLOW</vt:lpstr>
      <vt:lpstr>RESULT &amp; KEY TAKEAWAYS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Kaviya rs</cp:lastModifiedBy>
  <cp:revision>2</cp:revision>
  <dcterms:created xsi:type="dcterms:W3CDTF">2026-08-20T16:00:25Z</dcterms:created>
  <dcterms:modified xsi:type="dcterms:W3CDTF">2026-08-20T16:46:20Z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020AF2A8505344A196C2E3C363AE5DE4_12</vt:lpwstr>
  </property>
  <property fmtid="{D5CDD505-2E9C-101B-9397-08002B2CF9AE}" pid="3" name="KSOProductBuildVer">
    <vt:lpwstr>1033-12.1.0.28032</vt:lpwstr>
  </property>
</Properties>
</file>